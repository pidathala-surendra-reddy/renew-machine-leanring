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sldIdLst>
    <p:sldId id="256" r:id="rId5"/>
    <p:sldId id="278" r:id="rId6"/>
    <p:sldId id="279" r:id="rId7"/>
    <p:sldId id="280" r:id="rId8"/>
    <p:sldId id="281" r:id="rId9"/>
    <p:sldId id="282" r:id="rId10"/>
    <p:sldId id="28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2163" y="3429000"/>
            <a:ext cx="7798837" cy="1090938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>
                <a:solidFill>
                  <a:srgbClr val="FFFFFF"/>
                </a:solidFill>
              </a:rPr>
              <a:t>Renew Plan Prediction -                                	Insurance Customer Retention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Surendra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43A8-C310-4C5A-7F6F-EBD2F428E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8D903-7090-A3F2-3F1C-4CECCAACD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Build a binary classification model to predict if a customer will renew their policy (Target: 1) or not (Target: 0).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Business Context: Retention is critical for long-term revenue; accurate predictions enable targeted interventions and improved customer experience.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Dataset Overview: The training dataset consists of 8000 rows and 19 columns , and test dataset contains 2000 rows and 18 columns  containing customer demographics (age, income), policy details (premium, sourcing channel), and payment history.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Problem Type: Supervised Machine Learning (Binary Classification) aimed at identifying at-risk customers.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0231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4B279-38F4-5962-CE31-14415E93C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Understanding &amp;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AD6B-8D13-7BFA-126D-003C55A17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Data Integrity: The dataset contains integers, floats, and objects; missing values were identified in Count_3-6_months_late and </a:t>
            </a:r>
            <a:r>
              <a:rPr lang="en-US" dirty="0" err="1"/>
              <a:t>application_underwriting_score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Univariate Analysis: numerical features like Income and premium are right-skewed, while </a:t>
            </a:r>
            <a:r>
              <a:rPr lang="en-US" dirty="0" err="1"/>
              <a:t>age_in_days</a:t>
            </a:r>
            <a:r>
              <a:rPr lang="en-US" dirty="0"/>
              <a:t> shows a fairly normal distribution and columns like </a:t>
            </a:r>
            <a:r>
              <a:rPr lang="en-US" dirty="0" err="1"/>
              <a:t>application_underwriting_score</a:t>
            </a:r>
            <a:r>
              <a:rPr lang="en-US" dirty="0"/>
              <a:t> is </a:t>
            </a:r>
            <a:r>
              <a:rPr lang="en-US" dirty="0" err="1"/>
              <a:t>left_skewed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Categorical Distribution: </a:t>
            </a:r>
            <a:r>
              <a:rPr lang="en-US" dirty="0" err="1"/>
              <a:t>sourcing_channel</a:t>
            </a:r>
            <a:r>
              <a:rPr lang="en-US" dirty="0"/>
              <a:t> 'A' is the most dominant channel, and Urban residence type is slightly more prevalent than Rural.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Outlier Detection: Boxplots revealed significant outliers in Income (327), premium (658), and late payment counts, necessitating treatment.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Target Distribution: The dataset is highly imbalanced, with ~95% of customers renewing (Target=1) and only ~5% churning (Target=0).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3754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7F8F0-4A71-C571-10B4-9CBDDC36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Approach /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892FB-684C-4C49-4813-45A0ED537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68759"/>
            <a:ext cx="9720073" cy="4340601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Exploratory Data Analysis (EDA): Conducted extensive univariate analysis using histograms and boxplots to understand distributions and detect skewness and to identify outliers.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Categorical Analysis: Utilized count plots to visualize the frequency of categorical variables like occupation, insurance type, and </a:t>
            </a:r>
            <a:r>
              <a:rPr lang="en-US" dirty="0" err="1"/>
              <a:t>sourcing_channel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Outlier Treatment: Implemented the Interquartile Range (IQR) method to identify the outliers, specifically targeting the Income column to reduce noise.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Feature Engineering Plan: Strategy includes encoding categorical variables e.g., label Encoding for </a:t>
            </a:r>
            <a:r>
              <a:rPr lang="en-US" dirty="0" err="1"/>
              <a:t>sourcing_channel</a:t>
            </a:r>
            <a:r>
              <a:rPr lang="en-US" dirty="0"/>
              <a:t> and for other categorical columns.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Modeling Strategy: Given the class imbalance, the approach involves using stratified sampling or SMOTE, followed by training models like Logistic Regression or Random Forest, SVM, Gradient Boosting and </a:t>
            </a:r>
            <a:r>
              <a:rPr lang="en-US" dirty="0" err="1"/>
              <a:t>XGboost</a:t>
            </a:r>
            <a:r>
              <a:rPr lang="en-US" dirty="0"/>
              <a:t>. And do the ensemble technique for finding the best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8671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FE22A-FB3E-87C3-FD18-C31A3E1DD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Results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18091-2F99-3E13-9992-30C7DBA56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Payment Behavior: Most customers have 0 late payments in the last 3-6 months, suggesting a generally compliant customer base.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Income vs. Renewal: Higher income distributions show extreme outliers, indicating a segment of high-net-worth individuals who may require different engagement strategies.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Channel Performance: Sourcing Channel 'A' brings in the highest volume of customers, whereas channels like 'E' have negligible contribution.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Demographics: The occupation variable shows a diverse spread, with 'Software Engineer' and 'Sales' being prominent, potentially correlating with income stability.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Correlation Note: Variables like </a:t>
            </a:r>
            <a:r>
              <a:rPr lang="en-US" dirty="0" err="1"/>
              <a:t>perc_premium_paid_by_cash_credit</a:t>
            </a:r>
            <a:r>
              <a:rPr lang="en-US" dirty="0"/>
              <a:t> show distinct distributions, hinting at their importance in predicting churn risk.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8117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5DEC7-2252-3482-DF84-DB6129E08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Challenges, Learnings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083AF-794F-1C8F-9387-7E90BDFFA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Imbalance Challenge: The extreme class imbalance (95:5) poses a risk of model bias toward the majority class, requiring careful metric selection (F1-Score/AUC over Accuracy).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Quality: Handling missing values in </a:t>
            </a:r>
            <a:r>
              <a:rPr lang="en-US" dirty="0" err="1"/>
              <a:t>application_underwriting_score</a:t>
            </a:r>
            <a:r>
              <a:rPr lang="en-US" dirty="0"/>
              <a:t> and outliers in financial columns was crucial for model stability.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Key Learning: Payment history variables (</a:t>
            </a:r>
            <a:r>
              <a:rPr lang="en-US" dirty="0" err="1"/>
              <a:t>Count_late</a:t>
            </a:r>
            <a:r>
              <a:rPr lang="en-US" dirty="0"/>
              <a:t>) and premium amounts are likely strong predictors of renewal probability.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Next Steps: Implement advanced ensemble models (e.g., </a:t>
            </a:r>
            <a:r>
              <a:rPr lang="en-US" dirty="0" err="1"/>
              <a:t>catBoost,lightbgm</a:t>
            </a:r>
            <a:r>
              <a:rPr lang="en-US" dirty="0"/>
              <a:t>), perform hyperparameter tuning, and deploy the model for real-time risk scoring.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Business Impact: Successfully identifying non-</a:t>
            </a:r>
            <a:r>
              <a:rPr lang="en-US" dirty="0" err="1"/>
              <a:t>renewers</a:t>
            </a:r>
            <a:r>
              <a:rPr lang="en-US" dirty="0"/>
              <a:t> allows for proactive discounts or calls, directly boosting the company's retention rate.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8631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973CCC-2DF7-E605-AE6A-6B164FDE3668}"/>
              </a:ext>
            </a:extLst>
          </p:cNvPr>
          <p:cNvSpPr txBox="1"/>
          <p:nvPr/>
        </p:nvSpPr>
        <p:spPr>
          <a:xfrm>
            <a:off x="3135086" y="2332652"/>
            <a:ext cx="568234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9018540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25</TotalTime>
  <Words>682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Tw Cen MT</vt:lpstr>
      <vt:lpstr>Tw Cen MT Condensed</vt:lpstr>
      <vt:lpstr>Wingdings 3</vt:lpstr>
      <vt:lpstr>Integral</vt:lpstr>
      <vt:lpstr>Renew Plan Prediction -                                 Insurance Customer Retention</vt:lpstr>
      <vt:lpstr>Introduction &amp; Objective</vt:lpstr>
      <vt:lpstr>Data Understanding &amp; Cleaning</vt:lpstr>
      <vt:lpstr>Approach / Methodology</vt:lpstr>
      <vt:lpstr>Key Results &amp; Insights</vt:lpstr>
      <vt:lpstr> Challenges, Learnings &amp; 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teja</dc:creator>
  <cp:lastModifiedBy>sai teja</cp:lastModifiedBy>
  <cp:revision>2</cp:revision>
  <dcterms:created xsi:type="dcterms:W3CDTF">2025-11-18T12:51:52Z</dcterms:created>
  <dcterms:modified xsi:type="dcterms:W3CDTF">2025-11-18T13:17:11Z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